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78" r:id="rId3"/>
    <p:sldId id="276" r:id="rId4"/>
    <p:sldId id="277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67" r:id="rId13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62" autoAdjust="0"/>
  </p:normalViewPr>
  <p:slideViewPr>
    <p:cSldViewPr>
      <p:cViewPr>
        <p:scale>
          <a:sx n="75" d="100"/>
          <a:sy n="75" d="100"/>
        </p:scale>
        <p:origin x="1338" y="37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0948756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88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07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6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66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40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5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55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610"/>
            <a:ext cx="2972594" cy="456406"/>
          </a:xfrm>
          <a:prstGeom prst="rect">
            <a:avLst/>
          </a:prstGeom>
        </p:spPr>
        <p:txBody>
          <a:bodyPr lIns="64008" tIns="32004" rIns="64008" bIns="32004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9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8" r:id="rId4"/>
    <p:sldLayoutId id="2147483659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3"/>
          <p:cNvSpPr/>
          <p:nvPr/>
        </p:nvSpPr>
        <p:spPr>
          <a:xfrm>
            <a:off x="3903033" y="226368"/>
            <a:ext cx="6879410" cy="223891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Box 4"/>
          <p:cNvSpPr txBox="1"/>
          <p:nvPr/>
        </p:nvSpPr>
        <p:spPr>
          <a:xfrm>
            <a:off x="1129624" y="5825124"/>
            <a:ext cx="1242622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4000"/>
              </a:lnSpc>
              <a:defRPr sz="2600">
                <a:solidFill>
                  <a:srgbClr val="404040"/>
                </a:solidFill>
                <a:latin typeface="Aristotelica Pro"/>
                <a:ea typeface="Aristotelica Pro"/>
                <a:cs typeface="Aristotelica Pro"/>
                <a:sym typeface="Aristotelica Pro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Шапкин И.В.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000"/>
              </a:lnSpc>
              <a:defRPr sz="2600">
                <a:solidFill>
                  <a:srgbClr val="404040"/>
                </a:solidFill>
                <a:latin typeface="Aristotelica Pro"/>
                <a:ea typeface="Aristotelica Pro"/>
                <a:cs typeface="Aristotelica Pro"/>
                <a:sym typeface="Aristotelica Pro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2-7к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000"/>
              </a:lnSpc>
              <a:defRPr sz="2600">
                <a:solidFill>
                  <a:srgbClr val="404040"/>
                </a:solidFill>
                <a:latin typeface="Aristotelica Pro"/>
                <a:ea typeface="Aristotelica Pro"/>
                <a:cs typeface="Aristotelica Pro"/>
                <a:sym typeface="Aristotelica Pro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Силахина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Т.В.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5"/>
          <p:cNvSpPr txBox="1"/>
          <p:nvPr/>
        </p:nvSpPr>
        <p:spPr>
          <a:xfrm>
            <a:off x="1186677" y="3453515"/>
            <a:ext cx="12955589" cy="624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5300"/>
              </a:lnSpc>
              <a:defRPr sz="3800" spc="105">
                <a:solidFill>
                  <a:srgbClr val="40404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ИС для управления гостиницей</a:t>
            </a:r>
            <a:r>
              <a:rPr sz="3800" spc="105" dirty="0">
                <a:solidFill>
                  <a:srgbClr val="404040"/>
                </a:solidFill>
                <a:latin typeface="Times New Roman" panose="02020603050405020304" pitchFamily="18" charset="0"/>
                <a:ea typeface="Cy Grotesk Grand Bold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23" name="TextBox 6"/>
          <p:cNvSpPr txBox="1"/>
          <p:nvPr/>
        </p:nvSpPr>
        <p:spPr>
          <a:xfrm>
            <a:off x="5218502" y="2708527"/>
            <a:ext cx="4248472" cy="523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4000"/>
              </a:lnSpc>
              <a:defRPr sz="4000">
                <a:solidFill>
                  <a:srgbClr val="404040"/>
                </a:solidFill>
                <a:latin typeface="Aristotelica Pro"/>
                <a:ea typeface="Aristotelica Pro"/>
                <a:cs typeface="Aristotelica Pro"/>
                <a:sym typeface="Aristotelica Pro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CF6AA1-52CC-0AAE-B1E5-216E3454A028}"/>
              </a:ext>
            </a:extLst>
          </p:cNvPr>
          <p:cNvSpPr/>
          <p:nvPr/>
        </p:nvSpPr>
        <p:spPr>
          <a:xfrm>
            <a:off x="690464" y="5983703"/>
            <a:ext cx="1152128" cy="2245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9C4CD8-28F9-6A6A-14A7-CCF236CC6773}"/>
              </a:ext>
            </a:extLst>
          </p:cNvPr>
          <p:cNvSpPr/>
          <p:nvPr/>
        </p:nvSpPr>
        <p:spPr>
          <a:xfrm>
            <a:off x="1842592" y="6707088"/>
            <a:ext cx="1800200" cy="1522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CC90BD-5685-831B-FF1F-F8518F18331D}"/>
              </a:ext>
            </a:extLst>
          </p:cNvPr>
          <p:cNvSpPr/>
          <p:nvPr/>
        </p:nvSpPr>
        <p:spPr>
          <a:xfrm>
            <a:off x="-29616" y="5258773"/>
            <a:ext cx="720080" cy="29708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3AD5B74-7396-8FE6-A3C1-47EB9B79F1B5}"/>
              </a:ext>
            </a:extLst>
          </p:cNvPr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Разработка ИС для управления гостиницей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F715A7F-FA16-4FD9-FEA5-5E0BB694A082}"/>
              </a:ext>
            </a:extLst>
          </p:cNvPr>
          <p:cNvSpPr/>
          <p:nvPr/>
        </p:nvSpPr>
        <p:spPr>
          <a:xfrm>
            <a:off x="6883152" y="5261491"/>
            <a:ext cx="4392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аудитория: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FFB5219-B446-2834-9FD7-8F18B5F4E14C}"/>
              </a:ext>
            </a:extLst>
          </p:cNvPr>
          <p:cNvSpPr/>
          <p:nvPr/>
        </p:nvSpPr>
        <p:spPr>
          <a:xfrm>
            <a:off x="6883151" y="5837555"/>
            <a:ext cx="7560841" cy="158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Администраторы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/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сотрудники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/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клиенты гостиниц.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6EBCDFA-5BFB-88EC-EFC9-30E625117CFE}"/>
              </a:ext>
            </a:extLst>
          </p:cNvPr>
          <p:cNvSpPr/>
          <p:nvPr/>
        </p:nvSpPr>
        <p:spPr>
          <a:xfrm>
            <a:off x="6883152" y="1888262"/>
            <a:ext cx="73448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Простота и удобство использования.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68BE2B-BDD9-F619-0E55-CC20A1F11D41}"/>
              </a:ext>
            </a:extLst>
          </p:cNvPr>
          <p:cNvSpPr/>
          <p:nvPr/>
        </p:nvSpPr>
        <p:spPr>
          <a:xfrm>
            <a:off x="6883152" y="2442265"/>
            <a:ext cx="73448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Быстрое 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оформление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номеров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E4E2928-C732-FEAA-792A-F1FF73AD7E23}"/>
              </a:ext>
            </a:extLst>
          </p:cNvPr>
          <p:cNvSpPr/>
          <p:nvPr/>
        </p:nvSpPr>
        <p:spPr>
          <a:xfrm>
            <a:off x="6883152" y="3037527"/>
            <a:ext cx="73448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Адаптивный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интерфейс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4816F96B-0143-5E19-B2DF-9CE76A28D290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</a:t>
            </a:r>
            <a:endParaRPr kumimoji="0" lang="ru-RU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5410465-E5F9-BB53-C08F-3BFA1650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32" y="1879067"/>
            <a:ext cx="6048672" cy="53329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545FA4-E778-958F-8595-224A555FD391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191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52BEDD-FD60-E8B5-BE30-07131DDCA7AA}"/>
              </a:ext>
            </a:extLst>
          </p:cNvPr>
          <p:cNvSpPr/>
          <p:nvPr/>
        </p:nvSpPr>
        <p:spPr>
          <a:xfrm>
            <a:off x="690464" y="5983703"/>
            <a:ext cx="1152128" cy="2245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2355C1-20F8-E3BE-A1E6-FC659C8FD5D9}"/>
              </a:ext>
            </a:extLst>
          </p:cNvPr>
          <p:cNvSpPr/>
          <p:nvPr/>
        </p:nvSpPr>
        <p:spPr>
          <a:xfrm>
            <a:off x="1842592" y="6707088"/>
            <a:ext cx="1800200" cy="1522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8E69DE-7611-2BB7-9700-E4F7B8F63829}"/>
              </a:ext>
            </a:extLst>
          </p:cNvPr>
          <p:cNvSpPr/>
          <p:nvPr/>
        </p:nvSpPr>
        <p:spPr>
          <a:xfrm>
            <a:off x="-29616" y="5258773"/>
            <a:ext cx="720080" cy="29708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Цель и задачи курсового проекта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448" y="1571768"/>
            <a:ext cx="4392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6447" y="2147832"/>
            <a:ext cx="7560841" cy="158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Повышение эффективности работы сотрудников и качества обслуживания клиентов в гостиницах.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7BCC253-6F03-F9A9-44C0-31E1CD68F761}"/>
              </a:ext>
            </a:extLst>
          </p:cNvPr>
          <p:cNvSpPr/>
          <p:nvPr/>
        </p:nvSpPr>
        <p:spPr>
          <a:xfrm>
            <a:off x="6595120" y="4519127"/>
            <a:ext cx="4392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E2D3EEE-2D68-6B5F-6C25-8E2B7295ECB6}"/>
              </a:ext>
            </a:extLst>
          </p:cNvPr>
          <p:cNvSpPr/>
          <p:nvPr/>
        </p:nvSpPr>
        <p:spPr>
          <a:xfrm>
            <a:off x="6595119" y="5095191"/>
            <a:ext cx="7560841" cy="266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Проанализировать бизнес-процессы гостиницы.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Спроектировать систему с адаптивным интерфейсом.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Реализовать ключевые модули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77666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52BEDD-FD60-E8B5-BE30-07131DDCA7AA}"/>
              </a:ext>
            </a:extLst>
          </p:cNvPr>
          <p:cNvSpPr/>
          <p:nvPr/>
        </p:nvSpPr>
        <p:spPr>
          <a:xfrm>
            <a:off x="690464" y="7643192"/>
            <a:ext cx="1152128" cy="586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2355C1-20F8-E3BE-A1E6-FC659C8FD5D9}"/>
              </a:ext>
            </a:extLst>
          </p:cNvPr>
          <p:cNvSpPr/>
          <p:nvPr/>
        </p:nvSpPr>
        <p:spPr>
          <a:xfrm>
            <a:off x="1842592" y="7875270"/>
            <a:ext cx="1800200" cy="354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8E69DE-7611-2BB7-9700-E4F7B8F63829}"/>
              </a:ext>
            </a:extLst>
          </p:cNvPr>
          <p:cNvSpPr/>
          <p:nvPr/>
        </p:nvSpPr>
        <p:spPr>
          <a:xfrm>
            <a:off x="-29616" y="7355160"/>
            <a:ext cx="720080" cy="8744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Обзор аналогов приложения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E09771-78AE-D14D-F498-4FD1538E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26" y="1287988"/>
            <a:ext cx="6498026" cy="36560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3395518-70BA-3187-A24A-7375A60AF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942" y="1287987"/>
            <a:ext cx="6498026" cy="3656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A324B70B-75F2-21C5-58A8-3F483500BAC8}"/>
              </a:ext>
            </a:extLst>
          </p:cNvPr>
          <p:cNvSpPr/>
          <p:nvPr/>
        </p:nvSpPr>
        <p:spPr>
          <a:xfrm>
            <a:off x="402432" y="5081607"/>
            <a:ext cx="4392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TravelLine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3DBAF8D-B38B-C239-C00A-382B50742CE6}"/>
              </a:ext>
            </a:extLst>
          </p:cNvPr>
          <p:cNvSpPr/>
          <p:nvPr/>
        </p:nvSpPr>
        <p:spPr>
          <a:xfrm>
            <a:off x="385127" y="5530371"/>
            <a:ext cx="6498026" cy="158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Стоимость выше средней</a:t>
            </a:r>
          </a:p>
          <a:p>
            <a:pPr marL="342900" indent="-342900">
              <a:buSzPct val="100000"/>
              <a:buChar char="•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Для полноценной работы не хватает многих модулей</a:t>
            </a:r>
          </a:p>
          <a:p>
            <a:pPr marL="342900" indent="-342900">
              <a:buSzPct val="100000"/>
              <a:buChar char="•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Пользователям трудно понять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51077F6A-E3CF-F0C0-8B3B-FC3593C88F84}"/>
              </a:ext>
            </a:extLst>
          </p:cNvPr>
          <p:cNvSpPr/>
          <p:nvPr/>
        </p:nvSpPr>
        <p:spPr>
          <a:xfrm>
            <a:off x="7751541" y="5081607"/>
            <a:ext cx="4392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Logus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HMS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69091AE0-A2FA-B4C9-01D8-74DED7B1FE05}"/>
              </a:ext>
            </a:extLst>
          </p:cNvPr>
          <p:cNvSpPr/>
          <p:nvPr/>
        </p:nvSpPr>
        <p:spPr>
          <a:xfrm>
            <a:off x="7734236" y="5530371"/>
            <a:ext cx="6498026" cy="158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Модульная система оплаты</a:t>
            </a:r>
          </a:p>
          <a:p>
            <a:pPr marL="342900" indent="-342900">
              <a:buSzPct val="100000"/>
              <a:buChar char="•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 базовом функционале отсутствуют ключевые модули</a:t>
            </a:r>
          </a:p>
          <a:p>
            <a:pPr marL="342900" indent="-342900">
              <a:buSzPct val="100000"/>
              <a:buChar char="•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Громоздкое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1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FA223A5-B678-04F6-A245-530B274BCA66}"/>
              </a:ext>
            </a:extLst>
          </p:cNvPr>
          <p:cNvSpPr/>
          <p:nvPr/>
        </p:nvSpPr>
        <p:spPr>
          <a:xfrm>
            <a:off x="690464" y="7643192"/>
            <a:ext cx="1152128" cy="586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729FA1-009C-5851-D8E8-1F0AF7DEDB83}"/>
              </a:ext>
            </a:extLst>
          </p:cNvPr>
          <p:cNvSpPr/>
          <p:nvPr/>
        </p:nvSpPr>
        <p:spPr>
          <a:xfrm>
            <a:off x="1842592" y="7875270"/>
            <a:ext cx="1800200" cy="354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6F0C96F-6C6C-B701-3131-293C791A32E0}"/>
              </a:ext>
            </a:extLst>
          </p:cNvPr>
          <p:cNvSpPr/>
          <p:nvPr/>
        </p:nvSpPr>
        <p:spPr>
          <a:xfrm>
            <a:off x="-29616" y="7355160"/>
            <a:ext cx="720080" cy="8744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Требования к приложению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447" y="1571768"/>
            <a:ext cx="7560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6447" y="2147832"/>
            <a:ext cx="7560841" cy="2038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Возможность регистрации, авторизации, управления профилями.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Функции управления номерами.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Бронирование номеров.</a:t>
            </a: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5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7BCC253-6F03-F9A9-44C0-31E1CD68F761}"/>
              </a:ext>
            </a:extLst>
          </p:cNvPr>
          <p:cNvSpPr/>
          <p:nvPr/>
        </p:nvSpPr>
        <p:spPr>
          <a:xfrm>
            <a:off x="546446" y="4519127"/>
            <a:ext cx="75608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требования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E2D3EEE-2D68-6B5F-6C25-8E2B7295ECB6}"/>
              </a:ext>
            </a:extLst>
          </p:cNvPr>
          <p:cNvSpPr/>
          <p:nvPr/>
        </p:nvSpPr>
        <p:spPr>
          <a:xfrm>
            <a:off x="546446" y="5095191"/>
            <a:ext cx="7560841" cy="266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Разработка на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C#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с использованием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WPF.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Использование СУБД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MS SQL.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Защита от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SQL-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инъекций.</a:t>
            </a:r>
          </a:p>
        </p:txBody>
      </p:sp>
      <p:pic>
        <p:nvPicPr>
          <p:cNvPr id="12" name="Рисунок 11" descr="Изображение выглядит как снимок экрана, символ, Графика, дизайн">
            <a:extLst>
              <a:ext uri="{FF2B5EF4-FFF2-40B4-BE49-F238E27FC236}">
                <a16:creationId xmlns:a16="http://schemas.microsoft.com/office/drawing/2014/main" id="{16757AEF-C2E5-6D7C-8F40-984A3CA1B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058" y="1571768"/>
            <a:ext cx="4320786" cy="580132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78214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52BEDD-FD60-E8B5-BE30-07131DDCA7AA}"/>
              </a:ext>
            </a:extLst>
          </p:cNvPr>
          <p:cNvSpPr/>
          <p:nvPr/>
        </p:nvSpPr>
        <p:spPr>
          <a:xfrm>
            <a:off x="690464" y="5983703"/>
            <a:ext cx="1152128" cy="2245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2355C1-20F8-E3BE-A1E6-FC659C8FD5D9}"/>
              </a:ext>
            </a:extLst>
          </p:cNvPr>
          <p:cNvSpPr/>
          <p:nvPr/>
        </p:nvSpPr>
        <p:spPr>
          <a:xfrm>
            <a:off x="1842592" y="6707088"/>
            <a:ext cx="1800200" cy="1522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8E69DE-7611-2BB7-9700-E4F7B8F63829}"/>
              </a:ext>
            </a:extLst>
          </p:cNvPr>
          <p:cNvSpPr/>
          <p:nvPr/>
        </p:nvSpPr>
        <p:spPr>
          <a:xfrm>
            <a:off x="-29616" y="5258773"/>
            <a:ext cx="720080" cy="29708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Технологии разработки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6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770B1819-CE2F-FE37-0A73-8A179113293A}"/>
              </a:ext>
            </a:extLst>
          </p:cNvPr>
          <p:cNvGrpSpPr/>
          <p:nvPr/>
        </p:nvGrpSpPr>
        <p:grpSpPr>
          <a:xfrm>
            <a:off x="8150088" y="1300113"/>
            <a:ext cx="5995781" cy="2358993"/>
            <a:chOff x="8150088" y="1300113"/>
            <a:chExt cx="5995781" cy="2358993"/>
          </a:xfrm>
        </p:grpSpPr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8925FFBE-D36F-C67E-CC74-4AAB6E47B78D}"/>
                </a:ext>
              </a:extLst>
            </p:cNvPr>
            <p:cNvSpPr/>
            <p:nvPr/>
          </p:nvSpPr>
          <p:spPr>
            <a:xfrm>
              <a:off x="8543864" y="1467579"/>
              <a:ext cx="5602005" cy="2191527"/>
            </a:xfrm>
            <a:prstGeom prst="rect">
              <a:avLst/>
            </a:prstGeom>
            <a:solidFill>
              <a:srgbClr val="EDF1F9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6C8F9EA4-D1DB-9FB4-AA54-1920669138D6}"/>
                </a:ext>
              </a:extLst>
            </p:cNvPr>
            <p:cNvGrpSpPr/>
            <p:nvPr/>
          </p:nvGrpSpPr>
          <p:grpSpPr>
            <a:xfrm>
              <a:off x="8150088" y="1300113"/>
              <a:ext cx="5944180" cy="2245897"/>
              <a:chOff x="-173632" y="1300113"/>
              <a:chExt cx="5944180" cy="2245897"/>
            </a:xfrm>
          </p:grpSpPr>
          <p:pic>
            <p:nvPicPr>
              <p:cNvPr id="12" name="Рисунок 11" descr="Изображение выглядит как Графика, круг, символ, логотип&#10;&#10;Контент, сгенерированный ИИ, может содержать ошибки.">
                <a:extLst>
                  <a:ext uri="{FF2B5EF4-FFF2-40B4-BE49-F238E27FC236}">
                    <a16:creationId xmlns:a16="http://schemas.microsoft.com/office/drawing/2014/main" id="{0362778E-FF0F-DC95-EA2B-8711D9ED4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73632" y="1300113"/>
                <a:ext cx="2245897" cy="2245897"/>
              </a:xfrm>
              <a:prstGeom prst="rect">
                <a:avLst/>
              </a:prstGeom>
            </p:spPr>
          </p:pic>
          <p:pic>
            <p:nvPicPr>
              <p:cNvPr id="18" name="Рисунок 17" descr="Изображение выглядит как текст, снимок экрана, Шрифт, Графика">
                <a:extLst>
                  <a:ext uri="{FF2B5EF4-FFF2-40B4-BE49-F238E27FC236}">
                    <a16:creationId xmlns:a16="http://schemas.microsoft.com/office/drawing/2014/main" id="{51B4326F-DB94-0F20-D6B9-C534486F6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98576" y="1739966"/>
                <a:ext cx="2549460" cy="1434072"/>
              </a:xfrm>
              <a:prstGeom prst="rect">
                <a:avLst/>
              </a:prstGeom>
            </p:spPr>
          </p:pic>
          <p:sp>
            <p:nvSpPr>
              <p:cNvPr id="7" name="Text 1">
                <a:extLst>
                  <a:ext uri="{FF2B5EF4-FFF2-40B4-BE49-F238E27FC236}">
                    <a16:creationId xmlns:a16="http://schemas.microsoft.com/office/drawing/2014/main" id="{FAE649EF-CD3D-16AB-4E4A-E15B6CA3DE86}"/>
                  </a:ext>
                </a:extLst>
              </p:cNvPr>
              <p:cNvSpPr/>
              <p:nvPr/>
            </p:nvSpPr>
            <p:spPr>
              <a:xfrm>
                <a:off x="2075943" y="1312199"/>
                <a:ext cx="1813849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3600" b="1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Backend</a:t>
                </a:r>
                <a:endParaRPr lang="en-US" sz="36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Рисунок 19" descr="Изображение выглядит как круг, Графика, логотип, графический дизайн">
                <a:extLst>
                  <a:ext uri="{FF2B5EF4-FFF2-40B4-BE49-F238E27FC236}">
                    <a16:creationId xmlns:a16="http://schemas.microsoft.com/office/drawing/2014/main" id="{DC5CDEE3-A77B-5270-38DD-8485074453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48036" y="1716011"/>
                <a:ext cx="1522512" cy="1522512"/>
              </a:xfrm>
              <a:prstGeom prst="rect">
                <a:avLst/>
              </a:prstGeom>
            </p:spPr>
          </p:pic>
          <p:sp>
            <p:nvSpPr>
              <p:cNvPr id="21" name="Text 1">
                <a:extLst>
                  <a:ext uri="{FF2B5EF4-FFF2-40B4-BE49-F238E27FC236}">
                    <a16:creationId xmlns:a16="http://schemas.microsoft.com/office/drawing/2014/main" id="{9A33DC63-CFA7-7A29-F97E-CD668EEC7A04}"/>
                  </a:ext>
                </a:extLst>
              </p:cNvPr>
              <p:cNvSpPr/>
              <p:nvPr/>
            </p:nvSpPr>
            <p:spPr>
              <a:xfrm>
                <a:off x="330424" y="3152181"/>
                <a:ext cx="1152128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C#</a:t>
                </a:r>
              </a:p>
            </p:txBody>
          </p:sp>
          <p:sp>
            <p:nvSpPr>
              <p:cNvPr id="22" name="Text 1">
                <a:extLst>
                  <a:ext uri="{FF2B5EF4-FFF2-40B4-BE49-F238E27FC236}">
                    <a16:creationId xmlns:a16="http://schemas.microsoft.com/office/drawing/2014/main" id="{83CD034C-F6AE-A5D6-5AB1-C18A893E2726}"/>
                  </a:ext>
                </a:extLst>
              </p:cNvPr>
              <p:cNvSpPr/>
              <p:nvPr/>
            </p:nvSpPr>
            <p:spPr>
              <a:xfrm>
                <a:off x="2072265" y="3152181"/>
                <a:ext cx="1802082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Microsoft .NET</a:t>
                </a:r>
              </a:p>
            </p:txBody>
          </p:sp>
          <p:sp>
            <p:nvSpPr>
              <p:cNvPr id="23" name="Text 1">
                <a:extLst>
                  <a:ext uri="{FF2B5EF4-FFF2-40B4-BE49-F238E27FC236}">
                    <a16:creationId xmlns:a16="http://schemas.microsoft.com/office/drawing/2014/main" id="{E4EA2C5E-EE06-38EB-40BC-8BE038C7C72D}"/>
                  </a:ext>
                </a:extLst>
              </p:cNvPr>
              <p:cNvSpPr/>
              <p:nvPr/>
            </p:nvSpPr>
            <p:spPr>
              <a:xfrm>
                <a:off x="4411814" y="3152181"/>
                <a:ext cx="1194956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 SQL</a:t>
                </a:r>
              </a:p>
            </p:txBody>
          </p:sp>
        </p:grp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300D84CA-B3AF-B92D-F969-2BB07A979DE0}"/>
              </a:ext>
            </a:extLst>
          </p:cNvPr>
          <p:cNvGrpSpPr/>
          <p:nvPr/>
        </p:nvGrpSpPr>
        <p:grpSpPr>
          <a:xfrm>
            <a:off x="10395985" y="5568694"/>
            <a:ext cx="3698283" cy="2323614"/>
            <a:chOff x="10395985" y="5568694"/>
            <a:chExt cx="3698283" cy="2323614"/>
          </a:xfrm>
        </p:grpSpPr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697F933E-8B0F-A9AC-182F-3D73939771DB}"/>
                </a:ext>
              </a:extLst>
            </p:cNvPr>
            <p:cNvSpPr/>
            <p:nvPr/>
          </p:nvSpPr>
          <p:spPr>
            <a:xfrm>
              <a:off x="10395985" y="5700781"/>
              <a:ext cx="3698283" cy="2191527"/>
            </a:xfrm>
            <a:prstGeom prst="rect">
              <a:avLst/>
            </a:prstGeom>
            <a:solidFill>
              <a:srgbClr val="EDF1F9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1FF9B589-FEE5-D7C9-02D5-537C370038B8}"/>
                </a:ext>
              </a:extLst>
            </p:cNvPr>
            <p:cNvGrpSpPr/>
            <p:nvPr/>
          </p:nvGrpSpPr>
          <p:grpSpPr>
            <a:xfrm>
              <a:off x="10525662" y="5568694"/>
              <a:ext cx="3344809" cy="2206398"/>
              <a:chOff x="9441196" y="2605392"/>
              <a:chExt cx="3344809" cy="2206398"/>
            </a:xfrm>
          </p:grpSpPr>
          <p:sp>
            <p:nvSpPr>
              <p:cNvPr id="8" name="Text 1">
                <a:extLst>
                  <a:ext uri="{FF2B5EF4-FFF2-40B4-BE49-F238E27FC236}">
                    <a16:creationId xmlns:a16="http://schemas.microsoft.com/office/drawing/2014/main" id="{2F2C0148-D322-84E4-3A18-66B8FFCE280B}"/>
                  </a:ext>
                </a:extLst>
              </p:cNvPr>
              <p:cNvSpPr/>
              <p:nvPr/>
            </p:nvSpPr>
            <p:spPr>
              <a:xfrm>
                <a:off x="10078062" y="2605392"/>
                <a:ext cx="2088232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3600" b="1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Frontend</a:t>
                </a:r>
                <a:endParaRPr lang="en-US" sz="36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5" name="Рисунок 24" descr="Изображение выглядит как логотип, Графика, Шрифт, графический дизайн&#10;&#10;Контент, сгенерированный ИИ, может содержать ошибки.">
                <a:extLst>
                  <a:ext uri="{FF2B5EF4-FFF2-40B4-BE49-F238E27FC236}">
                    <a16:creationId xmlns:a16="http://schemas.microsoft.com/office/drawing/2014/main" id="{9B16D98F-8C97-A2D5-77CB-7EA8C92691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41196" y="3045246"/>
                <a:ext cx="1638939" cy="1434072"/>
              </a:xfrm>
              <a:prstGeom prst="rect">
                <a:avLst/>
              </a:prstGeom>
            </p:spPr>
          </p:pic>
          <p:pic>
            <p:nvPicPr>
              <p:cNvPr id="29" name="Рисунок 28">
                <a:extLst>
                  <a:ext uri="{FF2B5EF4-FFF2-40B4-BE49-F238E27FC236}">
                    <a16:creationId xmlns:a16="http://schemas.microsoft.com/office/drawing/2014/main" id="{DB8B7C81-DFF3-2573-C066-8FD123AE1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379112" y="3050567"/>
                <a:ext cx="1406893" cy="1406893"/>
              </a:xfrm>
              <a:prstGeom prst="rect">
                <a:avLst/>
              </a:prstGeom>
            </p:spPr>
          </p:pic>
          <p:sp>
            <p:nvSpPr>
              <p:cNvPr id="30" name="Text 1">
                <a:extLst>
                  <a:ext uri="{FF2B5EF4-FFF2-40B4-BE49-F238E27FC236}">
                    <a16:creationId xmlns:a16="http://schemas.microsoft.com/office/drawing/2014/main" id="{95D1F618-AC36-FFD8-7E9D-37753BC73D5D}"/>
                  </a:ext>
                </a:extLst>
              </p:cNvPr>
              <p:cNvSpPr/>
              <p:nvPr/>
            </p:nvSpPr>
            <p:spPr>
              <a:xfrm>
                <a:off x="9662923" y="4457460"/>
                <a:ext cx="1194956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WPF</a:t>
                </a:r>
              </a:p>
            </p:txBody>
          </p:sp>
          <p:sp>
            <p:nvSpPr>
              <p:cNvPr id="31" name="Text 1">
                <a:extLst>
                  <a:ext uri="{FF2B5EF4-FFF2-40B4-BE49-F238E27FC236}">
                    <a16:creationId xmlns:a16="http://schemas.microsoft.com/office/drawing/2014/main" id="{3A0F9813-6D1C-FE16-9B2F-F882C1477C7C}"/>
                  </a:ext>
                </a:extLst>
              </p:cNvPr>
              <p:cNvSpPr/>
              <p:nvPr/>
            </p:nvSpPr>
            <p:spPr>
              <a:xfrm>
                <a:off x="11485080" y="4457460"/>
                <a:ext cx="1194956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XAML</a:t>
                </a:r>
              </a:p>
            </p:txBody>
          </p:sp>
        </p:grp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DFC8D9BB-9C08-7F0A-4498-F1025A8684B6}"/>
              </a:ext>
            </a:extLst>
          </p:cNvPr>
          <p:cNvGrpSpPr/>
          <p:nvPr/>
        </p:nvGrpSpPr>
        <p:grpSpPr>
          <a:xfrm>
            <a:off x="6003497" y="5541994"/>
            <a:ext cx="4392488" cy="2350314"/>
            <a:chOff x="6003497" y="5541994"/>
            <a:chExt cx="4392488" cy="2350314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7146B217-1E15-E8BA-27DB-A7808AA621CB}"/>
                </a:ext>
              </a:extLst>
            </p:cNvPr>
            <p:cNvSpPr/>
            <p:nvPr/>
          </p:nvSpPr>
          <p:spPr>
            <a:xfrm>
              <a:off x="6235080" y="5700781"/>
              <a:ext cx="3917563" cy="2191527"/>
            </a:xfrm>
            <a:prstGeom prst="rect">
              <a:avLst/>
            </a:prstGeom>
            <a:solidFill>
              <a:srgbClr val="EDF1F9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D75957D5-8032-87BA-C311-7C2E7B7059C5}"/>
                </a:ext>
              </a:extLst>
            </p:cNvPr>
            <p:cNvGrpSpPr/>
            <p:nvPr/>
          </p:nvGrpSpPr>
          <p:grpSpPr>
            <a:xfrm>
              <a:off x="6003497" y="5541994"/>
              <a:ext cx="4392488" cy="2194313"/>
              <a:chOff x="10078062" y="5757944"/>
              <a:chExt cx="4392488" cy="2194313"/>
            </a:xfrm>
          </p:grpSpPr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5BE90EDE-1505-AC1C-7DB5-C250C80CF80E}"/>
                  </a:ext>
                </a:extLst>
              </p:cNvPr>
              <p:cNvSpPr/>
              <p:nvPr/>
            </p:nvSpPr>
            <p:spPr>
              <a:xfrm>
                <a:off x="10078062" y="5757944"/>
                <a:ext cx="4392488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ru-RU" sz="3600" b="1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Среда разработки</a:t>
                </a:r>
                <a:endParaRPr lang="en-US" sz="36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7" name="Рисунок 26" descr="Изображение выглядит как Графика, фиолетовый, Сирень, Красочность">
                <a:extLst>
                  <a:ext uri="{FF2B5EF4-FFF2-40B4-BE49-F238E27FC236}">
                    <a16:creationId xmlns:a16="http://schemas.microsoft.com/office/drawing/2014/main" id="{4DBB3F12-B5F5-0E74-4E6B-2854F1324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77323" y="6231135"/>
                <a:ext cx="1366792" cy="1366792"/>
              </a:xfrm>
              <a:prstGeom prst="rect">
                <a:avLst/>
              </a:prstGeom>
            </p:spPr>
          </p:pic>
          <p:sp>
            <p:nvSpPr>
              <p:cNvPr id="32" name="Text 1">
                <a:extLst>
                  <a:ext uri="{FF2B5EF4-FFF2-40B4-BE49-F238E27FC236}">
                    <a16:creationId xmlns:a16="http://schemas.microsoft.com/office/drawing/2014/main" id="{B35B8BB1-490F-48A6-29F9-90DAA372403B}"/>
                  </a:ext>
                </a:extLst>
              </p:cNvPr>
              <p:cNvSpPr/>
              <p:nvPr/>
            </p:nvSpPr>
            <p:spPr>
              <a:xfrm>
                <a:off x="11849159" y="7597927"/>
                <a:ext cx="1023120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750"/>
                  </a:lnSpc>
                  <a:buNone/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VS 2022</a:t>
                </a:r>
              </a:p>
            </p:txBody>
          </p:sp>
        </p:grpSp>
      </p:grpSp>
      <p:pic>
        <p:nvPicPr>
          <p:cNvPr id="37" name="Рисунок 36" descr="Изображение выглядит как круг, Графика, символ, графическая вставка">
            <a:extLst>
              <a:ext uri="{FF2B5EF4-FFF2-40B4-BE49-F238E27FC236}">
                <a16:creationId xmlns:a16="http://schemas.microsoft.com/office/drawing/2014/main" id="{46C3DFA3-12E4-1E09-7D25-B0CC9DD17A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2" y="1892896"/>
            <a:ext cx="5424136" cy="5411433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611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52BEDD-FD60-E8B5-BE30-07131DDCA7AA}"/>
              </a:ext>
            </a:extLst>
          </p:cNvPr>
          <p:cNvSpPr/>
          <p:nvPr/>
        </p:nvSpPr>
        <p:spPr>
          <a:xfrm>
            <a:off x="690464" y="6707088"/>
            <a:ext cx="1152128" cy="15225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2355C1-20F8-E3BE-A1E6-FC659C8FD5D9}"/>
              </a:ext>
            </a:extLst>
          </p:cNvPr>
          <p:cNvSpPr/>
          <p:nvPr/>
        </p:nvSpPr>
        <p:spPr>
          <a:xfrm>
            <a:off x="1842592" y="7067128"/>
            <a:ext cx="1800200" cy="1162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8E69DE-7611-2BB7-9700-E4F7B8F63829}"/>
              </a:ext>
            </a:extLst>
          </p:cNvPr>
          <p:cNvSpPr/>
          <p:nvPr/>
        </p:nvSpPr>
        <p:spPr>
          <a:xfrm>
            <a:off x="-29616" y="6261712"/>
            <a:ext cx="720080" cy="19678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Алгоритм работы пользователя в приложении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448" y="1334395"/>
            <a:ext cx="63367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6447" y="1694801"/>
            <a:ext cx="6336705" cy="71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Ввод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email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и пароля для входа в профиль.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7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D28667C-7846-AC60-0DFC-0816553CBF7A}"/>
              </a:ext>
            </a:extLst>
          </p:cNvPr>
          <p:cNvSpPr/>
          <p:nvPr/>
        </p:nvSpPr>
        <p:spPr>
          <a:xfrm>
            <a:off x="546448" y="2373836"/>
            <a:ext cx="63367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номеров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096017C-6D76-F74F-3519-5137D5866B96}"/>
              </a:ext>
            </a:extLst>
          </p:cNvPr>
          <p:cNvSpPr/>
          <p:nvPr/>
        </p:nvSpPr>
        <p:spPr>
          <a:xfrm>
            <a:off x="546447" y="2734242"/>
            <a:ext cx="6336705" cy="71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Выбор дат заезда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/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выезда и применение фильтров для просмотра доступных номеров.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8DBC033-9504-1697-A6EA-5C0F3DE0045B}"/>
              </a:ext>
            </a:extLst>
          </p:cNvPr>
          <p:cNvSpPr/>
          <p:nvPr/>
        </p:nvSpPr>
        <p:spPr>
          <a:xfrm>
            <a:off x="546448" y="3816304"/>
            <a:ext cx="63367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бронирования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386A07E-7467-91A8-4943-38EC1E807EC3}"/>
              </a:ext>
            </a:extLst>
          </p:cNvPr>
          <p:cNvSpPr/>
          <p:nvPr/>
        </p:nvSpPr>
        <p:spPr>
          <a:xfrm>
            <a:off x="546447" y="4176710"/>
            <a:ext cx="6336705" cy="71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Выбор подходящего номера, заполнение данных и подтверждение бронирования.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98BE875-1118-3099-8447-AD3D187B3476}"/>
              </a:ext>
            </a:extLst>
          </p:cNvPr>
          <p:cNvSpPr/>
          <p:nvPr/>
        </p:nvSpPr>
        <p:spPr>
          <a:xfrm>
            <a:off x="546448" y="5220498"/>
            <a:ext cx="63367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сервисами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7463F31E-8561-822D-EA20-45374810C60E}"/>
              </a:ext>
            </a:extLst>
          </p:cNvPr>
          <p:cNvSpPr/>
          <p:nvPr/>
        </p:nvSpPr>
        <p:spPr>
          <a:xfrm>
            <a:off x="546447" y="5580904"/>
            <a:ext cx="6336705" cy="71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Во время проживания можно заказать услуги.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1" name="Рисунок 20" descr="Изображение выглядит как логотип, снимок экрана, Графика, символ">
            <a:extLst>
              <a:ext uri="{FF2B5EF4-FFF2-40B4-BE49-F238E27FC236}">
                <a16:creationId xmlns:a16="http://schemas.microsoft.com/office/drawing/2014/main" id="{FC0B85FD-AEC8-1FDE-CC08-47A659E6D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137" y="1867077"/>
            <a:ext cx="5424136" cy="541143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21267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FA223A5-B678-04F6-A245-530B274BCA66}"/>
              </a:ext>
            </a:extLst>
          </p:cNvPr>
          <p:cNvSpPr/>
          <p:nvPr/>
        </p:nvSpPr>
        <p:spPr>
          <a:xfrm>
            <a:off x="690464" y="7643192"/>
            <a:ext cx="1152128" cy="586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729FA1-009C-5851-D8E8-1F0AF7DEDB83}"/>
              </a:ext>
            </a:extLst>
          </p:cNvPr>
          <p:cNvSpPr/>
          <p:nvPr/>
        </p:nvSpPr>
        <p:spPr>
          <a:xfrm>
            <a:off x="1842592" y="7875270"/>
            <a:ext cx="1800200" cy="354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6F0C96F-6C6C-B701-3131-293C791A32E0}"/>
              </a:ext>
            </a:extLst>
          </p:cNvPr>
          <p:cNvSpPr/>
          <p:nvPr/>
        </p:nvSpPr>
        <p:spPr>
          <a:xfrm>
            <a:off x="-29616" y="7355160"/>
            <a:ext cx="720080" cy="8744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Диаграмма базы данных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8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3" name="Рисунок 12" descr="Изображение выглядит как текст, снимок экрана, диаграмма, Шрифт">
            <a:extLst>
              <a:ext uri="{FF2B5EF4-FFF2-40B4-BE49-F238E27FC236}">
                <a16:creationId xmlns:a16="http://schemas.microsoft.com/office/drawing/2014/main" id="{AF58BDC7-C4AA-631E-5F7C-EC328A0B9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333" y="1124283"/>
            <a:ext cx="6427757" cy="702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3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на открытом воздухе, небо, Коммерческое здание, Многоцелевое использование">
            <a:extLst>
              <a:ext uri="{FF2B5EF4-FFF2-40B4-BE49-F238E27FC236}">
                <a16:creationId xmlns:a16="http://schemas.microsoft.com/office/drawing/2014/main" id="{40AD170D-7C49-FFAB-5B73-900F15222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9843" y="-1"/>
            <a:ext cx="18110086" cy="822960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3C5E91-EED1-99A8-D022-B506BC305A3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1">
              <a:lumMod val="20000"/>
              <a:lumOff val="80000"/>
              <a:alpha val="77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52BEDD-FD60-E8B5-BE30-07131DDCA7AA}"/>
              </a:ext>
            </a:extLst>
          </p:cNvPr>
          <p:cNvSpPr/>
          <p:nvPr/>
        </p:nvSpPr>
        <p:spPr>
          <a:xfrm>
            <a:off x="690464" y="5983703"/>
            <a:ext cx="1152128" cy="2245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2355C1-20F8-E3BE-A1E6-FC659C8FD5D9}"/>
              </a:ext>
            </a:extLst>
          </p:cNvPr>
          <p:cNvSpPr/>
          <p:nvPr/>
        </p:nvSpPr>
        <p:spPr>
          <a:xfrm>
            <a:off x="1842592" y="6707088"/>
            <a:ext cx="1800200" cy="1522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8E69DE-7611-2BB7-9700-E4F7B8F63829}"/>
              </a:ext>
            </a:extLst>
          </p:cNvPr>
          <p:cNvSpPr/>
          <p:nvPr/>
        </p:nvSpPr>
        <p:spPr>
          <a:xfrm>
            <a:off x="-29616" y="5258773"/>
            <a:ext cx="720080" cy="29708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3394720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ru-RU" sz="8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Демонстрация</a:t>
            </a:r>
            <a:endParaRPr lang="en-US" sz="80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6346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52BEDD-FD60-E8B5-BE30-07131DDCA7AA}"/>
              </a:ext>
            </a:extLst>
          </p:cNvPr>
          <p:cNvSpPr/>
          <p:nvPr/>
        </p:nvSpPr>
        <p:spPr>
          <a:xfrm>
            <a:off x="690464" y="5983703"/>
            <a:ext cx="1152128" cy="2245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2355C1-20F8-E3BE-A1E6-FC659C8FD5D9}"/>
              </a:ext>
            </a:extLst>
          </p:cNvPr>
          <p:cNvSpPr/>
          <p:nvPr/>
        </p:nvSpPr>
        <p:spPr>
          <a:xfrm>
            <a:off x="1842592" y="6707088"/>
            <a:ext cx="1800200" cy="1522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8E69DE-7611-2BB7-9700-E4F7B8F63829}"/>
              </a:ext>
            </a:extLst>
          </p:cNvPr>
          <p:cNvSpPr/>
          <p:nvPr/>
        </p:nvSpPr>
        <p:spPr>
          <a:xfrm>
            <a:off x="-29616" y="5258773"/>
            <a:ext cx="720080" cy="29708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Меры по обеспечению инф. безопасности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10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781BBAE-8A25-A6DB-B47B-68FD31E2BF98}"/>
              </a:ext>
            </a:extLst>
          </p:cNvPr>
          <p:cNvSpPr/>
          <p:nvPr/>
        </p:nvSpPr>
        <p:spPr>
          <a:xfrm>
            <a:off x="6835360" y="2109409"/>
            <a:ext cx="7560841" cy="49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Защита от несанкционированного доступа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- система ролей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- разграничение прав доступа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Безопасная обработка данных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- параметризованные запросы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- шифровка чувствительных данных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Защита каналов связи</a:t>
            </a:r>
            <a:b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- шифрование передачи между клиентом и сервером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87C78C-2E57-A09B-D715-960DA90A9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828" y="1666528"/>
            <a:ext cx="5424136" cy="5411433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3627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9440FF-1F16-D8F5-F000-689B0A1BED3B}"/>
              </a:ext>
            </a:extLst>
          </p:cNvPr>
          <p:cNvSpPr/>
          <p:nvPr/>
        </p:nvSpPr>
        <p:spPr>
          <a:xfrm>
            <a:off x="690464" y="7643192"/>
            <a:ext cx="1152128" cy="586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EE78FA-945D-FC63-B668-6440D651A3E9}"/>
              </a:ext>
            </a:extLst>
          </p:cNvPr>
          <p:cNvSpPr/>
          <p:nvPr/>
        </p:nvSpPr>
        <p:spPr>
          <a:xfrm>
            <a:off x="1842592" y="7875270"/>
            <a:ext cx="1800200" cy="354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1626AE4-1712-5842-E774-727CD147DE97}"/>
              </a:ext>
            </a:extLst>
          </p:cNvPr>
          <p:cNvSpPr/>
          <p:nvPr/>
        </p:nvSpPr>
        <p:spPr>
          <a:xfrm>
            <a:off x="-29616" y="7355160"/>
            <a:ext cx="720080" cy="8744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Text 0"/>
          <p:cNvSpPr/>
          <p:nvPr/>
        </p:nvSpPr>
        <p:spPr>
          <a:xfrm>
            <a:off x="402432" y="226368"/>
            <a:ext cx="14041560" cy="144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Заключение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усеченные противолежащие углы 5">
            <a:extLst>
              <a:ext uri="{FF2B5EF4-FFF2-40B4-BE49-F238E27FC236}">
                <a16:creationId xmlns:a16="http://schemas.microsoft.com/office/drawing/2014/main" id="{D7D5CB1D-0C8F-B214-458A-138B49B56D6F}"/>
              </a:ext>
            </a:extLst>
          </p:cNvPr>
          <p:cNvSpPr/>
          <p:nvPr/>
        </p:nvSpPr>
        <p:spPr>
          <a:xfrm>
            <a:off x="13708782" y="0"/>
            <a:ext cx="1843236" cy="895823"/>
          </a:xfrm>
          <a:prstGeom prst="snip2DiagRect">
            <a:avLst>
              <a:gd name="adj1" fmla="val 0"/>
              <a:gd name="adj2" fmla="val 34959"/>
            </a:avLst>
          </a:prstGeom>
          <a:solidFill>
            <a:schemeClr val="accent1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10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72844E-6DE8-758F-DB55-84F9FDE3993D}"/>
              </a:ext>
            </a:extLst>
          </p:cNvPr>
          <p:cNvSpPr/>
          <p:nvPr/>
        </p:nvSpPr>
        <p:spPr>
          <a:xfrm>
            <a:off x="186408" y="226368"/>
            <a:ext cx="144016" cy="71523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995901D-BA71-928B-97AD-7EAD17920B79}"/>
              </a:ext>
            </a:extLst>
          </p:cNvPr>
          <p:cNvSpPr/>
          <p:nvPr/>
        </p:nvSpPr>
        <p:spPr>
          <a:xfrm>
            <a:off x="546447" y="1571768"/>
            <a:ext cx="7560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1915CA5-C489-B098-A488-A3C82B8BE407}"/>
              </a:ext>
            </a:extLst>
          </p:cNvPr>
          <p:cNvSpPr/>
          <p:nvPr/>
        </p:nvSpPr>
        <p:spPr>
          <a:xfrm>
            <a:off x="546447" y="2147832"/>
            <a:ext cx="7560841" cy="2038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Разработанное приложение успешно автоматизирует ключевые процессы управления гостиницей.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C741E13-B601-54F9-20E8-78C709B1A790}"/>
              </a:ext>
            </a:extLst>
          </p:cNvPr>
          <p:cNvSpPr/>
          <p:nvPr/>
        </p:nvSpPr>
        <p:spPr>
          <a:xfrm>
            <a:off x="546446" y="4519127"/>
            <a:ext cx="75608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34633B0-30DE-07AF-C91B-8892299E3234}"/>
              </a:ext>
            </a:extLst>
          </p:cNvPr>
          <p:cNvSpPr/>
          <p:nvPr/>
        </p:nvSpPr>
        <p:spPr>
          <a:xfrm>
            <a:off x="546446" y="5095191"/>
            <a:ext cx="7560841" cy="266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Разработка мобильного приложения.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Внедрение модуля аналитики.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Интеграция с внешними платёжными системами.</a:t>
            </a:r>
          </a:p>
        </p:txBody>
      </p:sp>
      <p:pic>
        <p:nvPicPr>
          <p:cNvPr id="18" name="Рисунок 17" descr="Изображение выглядит как Графика, Шрифт, снимок экрана, логотип">
            <a:extLst>
              <a:ext uri="{FF2B5EF4-FFF2-40B4-BE49-F238E27FC236}">
                <a16:creationId xmlns:a16="http://schemas.microsoft.com/office/drawing/2014/main" id="{FE2D0EF6-4231-7EC8-4041-E1806EFFD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114" y="1480350"/>
            <a:ext cx="5424136" cy="541143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88884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5"/>
          <p:cNvSpPr txBox="1"/>
          <p:nvPr/>
        </p:nvSpPr>
        <p:spPr>
          <a:xfrm>
            <a:off x="1194520" y="5987008"/>
            <a:ext cx="12955589" cy="130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5300"/>
              </a:lnSpc>
              <a:defRPr sz="3800" spc="105">
                <a:solidFill>
                  <a:srgbClr val="40404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defRPr>
            </a:pPr>
            <a:r>
              <a:rPr lang="ru-RU" sz="3800" spc="105" dirty="0">
                <a:solidFill>
                  <a:srgbClr val="404040"/>
                </a:solidFill>
                <a:latin typeface="Times New Roman" panose="02020603050405020304" pitchFamily="18" charset="0"/>
                <a:ea typeface="Cy Grotesk Grand Bold"/>
                <a:cs typeface="Times New Roman" panose="02020603050405020304" pitchFamily="18" charset="0"/>
              </a:rPr>
              <a:t>Курсовой</a:t>
            </a:r>
            <a:r>
              <a:rPr sz="3800" spc="105" dirty="0">
                <a:solidFill>
                  <a:srgbClr val="404040"/>
                </a:solidFill>
                <a:latin typeface="Times New Roman" panose="02020603050405020304" pitchFamily="18" charset="0"/>
                <a:ea typeface="Cy Grotesk Grand Bold"/>
                <a:cs typeface="Times New Roman" panose="02020603050405020304" pitchFamily="18" charset="0"/>
              </a:rPr>
              <a:t> </a:t>
            </a:r>
            <a:r>
              <a:rPr sz="3800" spc="105" dirty="0" err="1">
                <a:solidFill>
                  <a:srgbClr val="404040"/>
                </a:solidFill>
                <a:latin typeface="Times New Roman" panose="02020603050405020304" pitchFamily="18" charset="0"/>
                <a:ea typeface="Cy Grotesk Grand Bold"/>
                <a:cs typeface="Times New Roman" panose="02020603050405020304" pitchFamily="18" charset="0"/>
              </a:rPr>
              <a:t>проект</a:t>
            </a:r>
            <a:r>
              <a:rPr lang="en-US" sz="3800" spc="105" dirty="0">
                <a:solidFill>
                  <a:srgbClr val="404040"/>
                </a:solidFill>
                <a:latin typeface="Times New Roman" panose="02020603050405020304" pitchFamily="18" charset="0"/>
                <a:ea typeface="Cy Grotesk Grand Bold"/>
                <a:cs typeface="Times New Roman" panose="02020603050405020304" pitchFamily="18" charset="0"/>
              </a:rPr>
              <a:t>:</a:t>
            </a:r>
            <a:r>
              <a:rPr lang="ru-RU" sz="3800" spc="105" dirty="0">
                <a:solidFill>
                  <a:srgbClr val="404040"/>
                </a:solidFill>
                <a:latin typeface="Times New Roman" panose="02020603050405020304" pitchFamily="18" charset="0"/>
                <a:ea typeface="Cy Grotesk Grand Bold"/>
                <a:cs typeface="Times New Roman" panose="02020603050405020304" pitchFamily="18" charset="0"/>
              </a:rPr>
              <a:t>«Разработка ИС для управления гостиницей»</a:t>
            </a:r>
          </a:p>
        </p:txBody>
      </p:sp>
      <p:sp>
        <p:nvSpPr>
          <p:cNvPr id="256" name="TextBox 3"/>
          <p:cNvSpPr txBox="1"/>
          <p:nvPr/>
        </p:nvSpPr>
        <p:spPr>
          <a:xfrm>
            <a:off x="2843849" y="3610744"/>
            <a:ext cx="9519736" cy="854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200"/>
              </a:lnSpc>
              <a:defRPr sz="5900">
                <a:solidFill>
                  <a:srgbClr val="40404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defRPr>
            </a:lvl1pPr>
          </a:lstStyle>
          <a:p>
            <a:r>
              <a:rPr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7" name="Freeform 3"/>
          <p:cNvSpPr/>
          <p:nvPr/>
        </p:nvSpPr>
        <p:spPr>
          <a:xfrm>
            <a:off x="3903033" y="226368"/>
            <a:ext cx="6879410" cy="223891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3049</TotalTime>
  <Words>341</Words>
  <Application>Microsoft Office PowerPoint</Application>
  <PresentationFormat>Произвольный</PresentationFormat>
  <Paragraphs>89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Арина</dc:creator>
  <cp:lastModifiedBy>Игорь Шапкин</cp:lastModifiedBy>
  <cp:revision>63</cp:revision>
  <dcterms:modified xsi:type="dcterms:W3CDTF">2025-12-16T23:06:40Z</dcterms:modified>
</cp:coreProperties>
</file>